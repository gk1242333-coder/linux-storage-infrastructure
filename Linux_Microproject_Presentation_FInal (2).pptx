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2"/>
  </p:notesMasterIdLst>
  <p:handoutMasterIdLst>
    <p:handoutMasterId r:id="rId23"/>
  </p:handoutMasterIdLst>
  <p:sldIdLst>
    <p:sldId id="507" r:id="rId2"/>
    <p:sldId id="1034" r:id="rId3"/>
    <p:sldId id="1035" r:id="rId4"/>
    <p:sldId id="1036" r:id="rId5"/>
    <p:sldId id="1037" r:id="rId6"/>
    <p:sldId id="1038" r:id="rId7"/>
    <p:sldId id="1039" r:id="rId8"/>
    <p:sldId id="1040" r:id="rId9"/>
    <p:sldId id="1041" r:id="rId10"/>
    <p:sldId id="1042" r:id="rId11"/>
    <p:sldId id="1043" r:id="rId12"/>
    <p:sldId id="1044" r:id="rId13"/>
    <p:sldId id="1045" r:id="rId14"/>
    <p:sldId id="1051" r:id="rId15"/>
    <p:sldId id="1052" r:id="rId16"/>
    <p:sldId id="1046" r:id="rId17"/>
    <p:sldId id="1047" r:id="rId18"/>
    <p:sldId id="1048" r:id="rId19"/>
    <p:sldId id="1049" r:id="rId20"/>
    <p:sldId id="1050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  <p:cmAuthor id="2" name="GANESH K" initials="GK" lastIdx="2" clrIdx="1">
    <p:extLst>
      <p:ext uri="{19B8F6BF-5375-455C-9EA6-DF929625EA0E}">
        <p15:presenceInfo xmlns:p15="http://schemas.microsoft.com/office/powerpoint/2012/main" userId="GANESH 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75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  <p:sp>
        <p:nvSpPr>
          <p:cNvPr id="11" name="Project title 11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1F3A5F"/>
                </a:solidFill>
                <a:latin typeface="Times New Roman"/>
                <a:cs typeface="Times New Roman"/>
              </a:rPr>
              <a:t>Integrated Linux Storage Infrastructure</a:t>
            </a:r>
          </a:p>
        </p:txBody>
      </p:sp>
      <p:sp>
        <p:nvSpPr>
          <p:cNvPr id="12" name="Subtitle 12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5A6472"/>
                </a:solidFill>
                <a:latin typeface="Times New Roman"/>
                <a:cs typeface="Times New Roman"/>
              </a:rPr>
              <a:t>Partitioning, LVM, Backup, Automation and Monitoring on Ubuntu</a:t>
            </a:r>
          </a:p>
        </p:txBody>
      </p:sp>
      <p:sp>
        <p:nvSpPr>
          <p:cNvPr id="13" name="Team card 13"/>
          <p:cNvSpPr/>
          <p:nvPr/>
        </p:nvSpPr>
        <p:spPr>
          <a:xfrm>
            <a:off x="822960" y="3108960"/>
            <a:ext cx="6675120" cy="24688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F3A5F"/>
                </a:solidFill>
                <a:latin typeface="Times New Roman"/>
                <a:cs typeface="Times New Roman"/>
              </a:rPr>
              <a:t>Team Members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Times New Roman"/>
                <a:cs typeface="Times New Roman"/>
              </a:rPr>
              <a:t>1.Pruthviraj M – Register No:[2411021061330]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Times New Roman"/>
                <a:cs typeface="Times New Roman"/>
              </a:rPr>
              <a:t>2. </a:t>
            </a:r>
            <a:r>
              <a:rPr lang="en-US" sz="2000" dirty="0" err="1">
                <a:solidFill>
                  <a:srgbClr val="222222"/>
                </a:solidFill>
                <a:latin typeface="Times New Roman"/>
                <a:cs typeface="Times New Roman"/>
              </a:rPr>
              <a:t>Mariyani</a:t>
            </a:r>
            <a:r>
              <a:rPr lang="en-US" sz="2000" dirty="0">
                <a:solidFill>
                  <a:srgbClr val="222222"/>
                </a:solidFill>
                <a:latin typeface="Times New Roman"/>
                <a:cs typeface="Times New Roman"/>
              </a:rPr>
              <a:t> Vishal – Register No:[2411021061591]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Times New Roman"/>
                <a:cs typeface="Times New Roman"/>
              </a:rPr>
              <a:t>3. Rohan </a:t>
            </a:r>
            <a:r>
              <a:rPr lang="en-US" sz="2000" dirty="0" err="1">
                <a:solidFill>
                  <a:srgbClr val="222222"/>
                </a:solidFill>
                <a:latin typeface="Times New Roman"/>
                <a:cs typeface="Times New Roman"/>
              </a:rPr>
              <a:t>Pujeri</a:t>
            </a:r>
            <a:r>
              <a:rPr lang="en-US" sz="2000" dirty="0">
                <a:solidFill>
                  <a:srgbClr val="222222"/>
                </a:solidFill>
                <a:latin typeface="Times New Roman"/>
                <a:cs typeface="Times New Roman"/>
              </a:rPr>
              <a:t> – </a:t>
            </a:r>
            <a:r>
              <a:rPr lang="en-US" sz="2000" dirty="0" err="1">
                <a:solidFill>
                  <a:srgbClr val="222222"/>
                </a:solidFill>
                <a:latin typeface="Times New Roman"/>
                <a:cs typeface="Times New Roman"/>
              </a:rPr>
              <a:t>Registere</a:t>
            </a:r>
            <a:r>
              <a:rPr lang="en-US" sz="2000" dirty="0">
                <a:solidFill>
                  <a:srgbClr val="222222"/>
                </a:solidFill>
                <a:latin typeface="Times New Roman"/>
                <a:cs typeface="Times New Roman"/>
              </a:rPr>
              <a:t> No:[2411021061648]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222222"/>
                </a:solidFill>
                <a:latin typeface="Times New Roman"/>
                <a:cs typeface="Times New Roman"/>
              </a:rPr>
              <a:t>4.  Ganesh </a:t>
            </a:r>
            <a:r>
              <a:rPr lang="en-US" sz="2000" dirty="0" err="1">
                <a:solidFill>
                  <a:srgbClr val="222222"/>
                </a:solidFill>
                <a:latin typeface="Times New Roman"/>
                <a:cs typeface="Times New Roman"/>
              </a:rPr>
              <a:t>Koti</a:t>
            </a:r>
            <a:r>
              <a:rPr lang="en-US" sz="2000" dirty="0">
                <a:solidFill>
                  <a:srgbClr val="222222"/>
                </a:solidFill>
                <a:latin typeface="Times New Roman"/>
                <a:cs typeface="Times New Roman"/>
              </a:rPr>
              <a:t>  -  Register No: [2411021061650]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solidFill>
                <a:srgbClr val="5A6472"/>
              </a:solidFill>
              <a:latin typeface="Times New Roman"/>
              <a:cs typeface="Times New Roman"/>
            </a:endParaRPr>
          </a:p>
        </p:txBody>
      </p:sp>
      <p:sp>
        <p:nvSpPr>
          <p:cNvPr id="14" name="Mentor card 14"/>
          <p:cNvSpPr/>
          <p:nvPr/>
        </p:nvSpPr>
        <p:spPr>
          <a:xfrm>
            <a:off x="7772400" y="310896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F3A5F"/>
                </a:solidFill>
                <a:latin typeface="Times New Roman"/>
                <a:cs typeface="Times New Roman"/>
              </a:rPr>
              <a:t>Name of the Mentor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Prof.KUSUMA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endParaRPr lang="en-US" sz="2000" b="1" dirty="0">
              <a:solidFill>
                <a:srgbClr val="1F3A5F"/>
              </a:solidFill>
              <a:latin typeface="Times New Roman"/>
              <a:cs typeface="Times New Roman"/>
            </a:endParaRPr>
          </a:p>
        </p:txBody>
      </p:sp>
      <p:sp>
        <p:nvSpPr>
          <p:cNvPr id="15" name="Course line 1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A6472"/>
                </a:solidFill>
                <a:latin typeface="Times New Roman"/>
                <a:cs typeface="Times New Roman"/>
              </a:rPr>
              <a:t>Linux Microproject   |   Unit III, IV   |   CO3, CO4   |   Academic Year 2026-27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Agenda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Agenda row 11"/>
          <p:cNvSpPr/>
          <p:nvPr/>
        </p:nvSpPr>
        <p:spPr>
          <a:xfrm>
            <a:off x="609905" y="1097280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12" name="Number 12"/>
          <p:cNvSpPr/>
          <p:nvPr/>
        </p:nvSpPr>
        <p:spPr>
          <a:xfrm>
            <a:off x="701345" y="1170432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3" name="Agenda item 13"/>
          <p:cNvSpPr txBox="1"/>
          <p:nvPr/>
        </p:nvSpPr>
        <p:spPr>
          <a:xfrm>
            <a:off x="1249985" y="115214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Introduction and Problem Statement</a:t>
            </a:r>
          </a:p>
        </p:txBody>
      </p:sp>
      <p:sp>
        <p:nvSpPr>
          <p:cNvPr id="14" name="Agenda row 14"/>
          <p:cNvSpPr/>
          <p:nvPr/>
        </p:nvSpPr>
        <p:spPr>
          <a:xfrm>
            <a:off x="609905" y="1792224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15" name="Number 15"/>
          <p:cNvSpPr/>
          <p:nvPr/>
        </p:nvSpPr>
        <p:spPr>
          <a:xfrm>
            <a:off x="701345" y="1865376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6" name="Agenda item 16"/>
          <p:cNvSpPr txBox="1"/>
          <p:nvPr/>
        </p:nvSpPr>
        <p:spPr>
          <a:xfrm>
            <a:off x="1249985" y="1847088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17" name="Agenda row 17"/>
          <p:cNvSpPr/>
          <p:nvPr/>
        </p:nvSpPr>
        <p:spPr>
          <a:xfrm>
            <a:off x="609905" y="2487168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18" name="Number 18"/>
          <p:cNvSpPr/>
          <p:nvPr/>
        </p:nvSpPr>
        <p:spPr>
          <a:xfrm>
            <a:off x="701345" y="2560320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9" name="Agenda item 19"/>
          <p:cNvSpPr txBox="1"/>
          <p:nvPr/>
        </p:nvSpPr>
        <p:spPr>
          <a:xfrm>
            <a:off x="1249985" y="2542032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Tools and System Requirements</a:t>
            </a:r>
          </a:p>
        </p:txBody>
      </p:sp>
      <p:sp>
        <p:nvSpPr>
          <p:cNvPr id="20" name="Agenda row 20"/>
          <p:cNvSpPr/>
          <p:nvPr/>
        </p:nvSpPr>
        <p:spPr>
          <a:xfrm>
            <a:off x="609905" y="3182112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21" name="Number 21"/>
          <p:cNvSpPr/>
          <p:nvPr/>
        </p:nvSpPr>
        <p:spPr>
          <a:xfrm>
            <a:off x="701345" y="3255264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2" name="Agenda item 22"/>
          <p:cNvSpPr txBox="1"/>
          <p:nvPr/>
        </p:nvSpPr>
        <p:spPr>
          <a:xfrm>
            <a:off x="1249985" y="3236976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System Architecture</a:t>
            </a:r>
          </a:p>
        </p:txBody>
      </p:sp>
      <p:sp>
        <p:nvSpPr>
          <p:cNvPr id="23" name="Agenda row 23"/>
          <p:cNvSpPr/>
          <p:nvPr/>
        </p:nvSpPr>
        <p:spPr>
          <a:xfrm>
            <a:off x="609905" y="3877056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24" name="Number 24"/>
          <p:cNvSpPr/>
          <p:nvPr/>
        </p:nvSpPr>
        <p:spPr>
          <a:xfrm>
            <a:off x="701345" y="3950208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25" name="Agenda item 25"/>
          <p:cNvSpPr txBox="1"/>
          <p:nvPr/>
        </p:nvSpPr>
        <p:spPr>
          <a:xfrm>
            <a:off x="1249985" y="393192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Implementation Steps &amp; Menu Interface</a:t>
            </a:r>
          </a:p>
        </p:txBody>
      </p:sp>
      <p:sp>
        <p:nvSpPr>
          <p:cNvPr id="26" name="Agenda row 26"/>
          <p:cNvSpPr/>
          <p:nvPr/>
        </p:nvSpPr>
        <p:spPr>
          <a:xfrm>
            <a:off x="609905" y="4572000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27" name="Number 27"/>
          <p:cNvSpPr/>
          <p:nvPr/>
        </p:nvSpPr>
        <p:spPr>
          <a:xfrm>
            <a:off x="701345" y="4645152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28" name="Agenda item 28"/>
          <p:cNvSpPr txBox="1"/>
          <p:nvPr/>
        </p:nvSpPr>
        <p:spPr>
          <a:xfrm>
            <a:off x="1249985" y="462686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Extend and Snapshot (LVM Management)</a:t>
            </a:r>
          </a:p>
        </p:txBody>
      </p:sp>
      <p:sp>
        <p:nvSpPr>
          <p:cNvPr id="29" name="Agenda row 29"/>
          <p:cNvSpPr/>
          <p:nvPr/>
        </p:nvSpPr>
        <p:spPr>
          <a:xfrm>
            <a:off x="609905" y="5266944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30" name="Number 30"/>
          <p:cNvSpPr/>
          <p:nvPr/>
        </p:nvSpPr>
        <p:spPr>
          <a:xfrm>
            <a:off x="701345" y="5340096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31" name="Agenda item 31"/>
          <p:cNvSpPr txBox="1"/>
          <p:nvPr/>
        </p:nvSpPr>
        <p:spPr>
          <a:xfrm>
            <a:off x="1249985" y="5321808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Backup and Restore</a:t>
            </a:r>
          </a:p>
        </p:txBody>
      </p:sp>
      <p:sp>
        <p:nvSpPr>
          <p:cNvPr id="32" name="Agenda row 32"/>
          <p:cNvSpPr/>
          <p:nvPr/>
        </p:nvSpPr>
        <p:spPr>
          <a:xfrm>
            <a:off x="6306617" y="1097280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33" name="Number 33"/>
          <p:cNvSpPr/>
          <p:nvPr/>
        </p:nvSpPr>
        <p:spPr>
          <a:xfrm>
            <a:off x="6398057" y="1170432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34" name="Agenda item 34"/>
          <p:cNvSpPr txBox="1"/>
          <p:nvPr/>
        </p:nvSpPr>
        <p:spPr>
          <a:xfrm>
            <a:off x="6946697" y="115214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Automation using cron</a:t>
            </a:r>
          </a:p>
        </p:txBody>
      </p:sp>
      <p:sp>
        <p:nvSpPr>
          <p:cNvPr id="35" name="Agenda row 35"/>
          <p:cNvSpPr/>
          <p:nvPr/>
        </p:nvSpPr>
        <p:spPr>
          <a:xfrm>
            <a:off x="6306617" y="1792224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36" name="Number 36"/>
          <p:cNvSpPr/>
          <p:nvPr/>
        </p:nvSpPr>
        <p:spPr>
          <a:xfrm>
            <a:off x="6398057" y="1865376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</a:p>
        </p:txBody>
      </p:sp>
      <p:sp>
        <p:nvSpPr>
          <p:cNvPr id="37" name="Agenda item 37"/>
          <p:cNvSpPr txBox="1"/>
          <p:nvPr/>
        </p:nvSpPr>
        <p:spPr>
          <a:xfrm>
            <a:off x="6946697" y="1847088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Monitoring</a:t>
            </a:r>
          </a:p>
        </p:txBody>
      </p:sp>
      <p:sp>
        <p:nvSpPr>
          <p:cNvPr id="38" name="Agenda row 38"/>
          <p:cNvSpPr/>
          <p:nvPr/>
        </p:nvSpPr>
        <p:spPr>
          <a:xfrm>
            <a:off x="6306617" y="2487168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39" name="Number 39"/>
          <p:cNvSpPr/>
          <p:nvPr/>
        </p:nvSpPr>
        <p:spPr>
          <a:xfrm>
            <a:off x="6398057" y="2560320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40" name="Agenda item 40"/>
          <p:cNvSpPr txBox="1"/>
          <p:nvPr/>
        </p:nvSpPr>
        <p:spPr>
          <a:xfrm>
            <a:off x="6946697" y="2542032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Testing ,Results &amp; Menu Validation</a:t>
            </a:r>
          </a:p>
        </p:txBody>
      </p:sp>
      <p:sp>
        <p:nvSpPr>
          <p:cNvPr id="41" name="Agenda row 41"/>
          <p:cNvSpPr/>
          <p:nvPr/>
        </p:nvSpPr>
        <p:spPr>
          <a:xfrm>
            <a:off x="6306617" y="3182112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42" name="Number 42"/>
          <p:cNvSpPr/>
          <p:nvPr/>
        </p:nvSpPr>
        <p:spPr>
          <a:xfrm>
            <a:off x="6398057" y="3255264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</a:p>
        </p:txBody>
      </p:sp>
      <p:sp>
        <p:nvSpPr>
          <p:cNvPr id="43" name="Agenda item 43"/>
          <p:cNvSpPr txBox="1"/>
          <p:nvPr/>
        </p:nvSpPr>
        <p:spPr>
          <a:xfrm>
            <a:off x="6946697" y="3236976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Challenges and Solutions</a:t>
            </a:r>
          </a:p>
        </p:txBody>
      </p:sp>
      <p:sp>
        <p:nvSpPr>
          <p:cNvPr id="44" name="Agenda row 44"/>
          <p:cNvSpPr/>
          <p:nvPr/>
        </p:nvSpPr>
        <p:spPr>
          <a:xfrm>
            <a:off x="6306617" y="3877056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45" name="Number 45"/>
          <p:cNvSpPr/>
          <p:nvPr/>
        </p:nvSpPr>
        <p:spPr>
          <a:xfrm>
            <a:off x="6398057" y="3950208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</a:p>
        </p:txBody>
      </p:sp>
      <p:sp>
        <p:nvSpPr>
          <p:cNvPr id="46" name="Agenda item 46"/>
          <p:cNvSpPr txBox="1"/>
          <p:nvPr/>
        </p:nvSpPr>
        <p:spPr>
          <a:xfrm>
            <a:off x="6946697" y="393192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Conclusion and Future Scope</a:t>
            </a:r>
          </a:p>
        </p:txBody>
      </p:sp>
      <p:sp>
        <p:nvSpPr>
          <p:cNvPr id="47" name="Agenda row 47"/>
          <p:cNvSpPr/>
          <p:nvPr/>
        </p:nvSpPr>
        <p:spPr>
          <a:xfrm>
            <a:off x="6306617" y="4572000"/>
            <a:ext cx="5276088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48" name="Number 48"/>
          <p:cNvSpPr/>
          <p:nvPr/>
        </p:nvSpPr>
        <p:spPr>
          <a:xfrm>
            <a:off x="6398057" y="4645152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</a:p>
        </p:txBody>
      </p:sp>
      <p:sp>
        <p:nvSpPr>
          <p:cNvPr id="49" name="Agenda item 49"/>
          <p:cNvSpPr txBox="1"/>
          <p:nvPr/>
        </p:nvSpPr>
        <p:spPr>
          <a:xfrm>
            <a:off x="6946697" y="462686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Introduction and Problem Statement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Introduction 11"/>
          <p:cNvSpPr txBox="1"/>
          <p:nvPr/>
        </p:nvSpPr>
        <p:spPr>
          <a:xfrm>
            <a:off x="609905" y="1051560"/>
            <a:ext cx="1097280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Storage is the foundation of every Linux server, but plain partitions have a fixed size and are hard to resize. LVM, backup, automation and monitoring, </a:t>
            </a:r>
            <a:r>
              <a:rPr lang="en-US" sz="1600" dirty="0"/>
              <a:t>and a menu-driven Bash interface on Ubuntu.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dirty="0">
              <a:solidFill>
                <a:srgbClr val="222222"/>
              </a:solidFill>
              <a:latin typeface="Times New Roman"/>
              <a:cs typeface="Times New Roman"/>
            </a:endParaRPr>
          </a:p>
        </p:txBody>
      </p:sp>
      <p:sp>
        <p:nvSpPr>
          <p:cNvPr id="12" name="Problem statement 12"/>
          <p:cNvSpPr/>
          <p:nvPr/>
        </p:nvSpPr>
        <p:spPr>
          <a:xfrm>
            <a:off x="609905" y="2011680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</p:spPr>
        <p:txBody>
          <a:bodyPr wrap="square" lIns="320040" tIns="91440" rIns="320040" bIns="9144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Problem: How can Linux storage be managed so that it can grow, is backed up automatically, and warns us before it runs out of space?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609905" y="3291840"/>
          <a:ext cx="10972800" cy="2724912"/>
        </p:xfrm>
        <a:graphic>
          <a:graphicData uri="http://schemas.openxmlformats.org/drawingml/2006/table">
            <a:tbl>
              <a:tblPr firstRow="1" bandRow="1"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Problem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Our Solution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Fixed disk space that cannot be extended easily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LVM: volumes extended online with lvextend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Risk of losing data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tar backup script with a tested restore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Manual work that gets forgotten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Automation with Bash scripts and cron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A full disk goes unnoticed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Monitoring script that logs a WARNING above 80%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Objectives of the Project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Objective card 11"/>
          <p:cNvSpPr/>
          <p:nvPr/>
        </p:nvSpPr>
        <p:spPr>
          <a:xfrm>
            <a:off x="609905" y="1143000"/>
            <a:ext cx="5276088" cy="1051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12" name="Number 12"/>
          <p:cNvSpPr/>
          <p:nvPr/>
        </p:nvSpPr>
        <p:spPr>
          <a:xfrm>
            <a:off x="792785" y="1394460"/>
            <a:ext cx="548640" cy="5486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3" name="Objective 13"/>
          <p:cNvSpPr txBox="1"/>
          <p:nvPr/>
        </p:nvSpPr>
        <p:spPr>
          <a:xfrm>
            <a:off x="1524305" y="1234440"/>
            <a:ext cx="42519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Create and manage disk partitions using parted</a:t>
            </a:r>
          </a:p>
        </p:txBody>
      </p:sp>
      <p:sp>
        <p:nvSpPr>
          <p:cNvPr id="14" name="Objective card 14"/>
          <p:cNvSpPr/>
          <p:nvPr/>
        </p:nvSpPr>
        <p:spPr>
          <a:xfrm>
            <a:off x="609905" y="2377440"/>
            <a:ext cx="5276088" cy="1051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15" name="Number 15"/>
          <p:cNvSpPr/>
          <p:nvPr/>
        </p:nvSpPr>
        <p:spPr>
          <a:xfrm>
            <a:off x="792785" y="2628900"/>
            <a:ext cx="548640" cy="5486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6" name="Objective 16"/>
          <p:cNvSpPr txBox="1"/>
          <p:nvPr/>
        </p:nvSpPr>
        <p:spPr>
          <a:xfrm>
            <a:off x="1524305" y="2468880"/>
            <a:ext cx="42519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Build flexible storage with LVM (PV, VG, LV)</a:t>
            </a:r>
          </a:p>
        </p:txBody>
      </p:sp>
      <p:sp>
        <p:nvSpPr>
          <p:cNvPr id="17" name="Objective card 17"/>
          <p:cNvSpPr/>
          <p:nvPr/>
        </p:nvSpPr>
        <p:spPr>
          <a:xfrm>
            <a:off x="609905" y="3611880"/>
            <a:ext cx="5276088" cy="1051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18" name="Number 18"/>
          <p:cNvSpPr/>
          <p:nvPr/>
        </p:nvSpPr>
        <p:spPr>
          <a:xfrm>
            <a:off x="792785" y="3863340"/>
            <a:ext cx="548640" cy="5486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9" name="Objective 19"/>
          <p:cNvSpPr txBox="1"/>
          <p:nvPr/>
        </p:nvSpPr>
        <p:spPr>
          <a:xfrm>
            <a:off x="1524305" y="3703320"/>
            <a:ext cx="42519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Create ext4 filesystems and mount them permanently with fstab</a:t>
            </a:r>
          </a:p>
        </p:txBody>
      </p:sp>
      <p:sp>
        <p:nvSpPr>
          <p:cNvPr id="20" name="Objective card 20"/>
          <p:cNvSpPr/>
          <p:nvPr/>
        </p:nvSpPr>
        <p:spPr>
          <a:xfrm>
            <a:off x="609905" y="4846320"/>
            <a:ext cx="5276088" cy="1051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21" name="Number 21"/>
          <p:cNvSpPr/>
          <p:nvPr/>
        </p:nvSpPr>
        <p:spPr>
          <a:xfrm>
            <a:off x="792785" y="5097780"/>
            <a:ext cx="548640" cy="5486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2" name="Objective 22"/>
          <p:cNvSpPr txBox="1"/>
          <p:nvPr/>
        </p:nvSpPr>
        <p:spPr>
          <a:xfrm>
            <a:off x="1524305" y="4937760"/>
            <a:ext cx="42519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Extend a volume online and take a snapshot</a:t>
            </a:r>
          </a:p>
        </p:txBody>
      </p:sp>
      <p:sp>
        <p:nvSpPr>
          <p:cNvPr id="23" name="Objective card 23"/>
          <p:cNvSpPr/>
          <p:nvPr/>
        </p:nvSpPr>
        <p:spPr>
          <a:xfrm>
            <a:off x="6306617" y="1143000"/>
            <a:ext cx="5276088" cy="1051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24" name="Number 24"/>
          <p:cNvSpPr/>
          <p:nvPr/>
        </p:nvSpPr>
        <p:spPr>
          <a:xfrm>
            <a:off x="6489497" y="1394460"/>
            <a:ext cx="548640" cy="5486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25" name="Objective 25"/>
          <p:cNvSpPr txBox="1"/>
          <p:nvPr/>
        </p:nvSpPr>
        <p:spPr>
          <a:xfrm>
            <a:off x="7221017" y="1234440"/>
            <a:ext cx="42519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Implement an automated backup with a tested restore</a:t>
            </a:r>
          </a:p>
        </p:txBody>
      </p:sp>
      <p:sp>
        <p:nvSpPr>
          <p:cNvPr id="26" name="Objective card 26"/>
          <p:cNvSpPr/>
          <p:nvPr/>
        </p:nvSpPr>
        <p:spPr>
          <a:xfrm>
            <a:off x="6306617" y="2377440"/>
            <a:ext cx="5276088" cy="1051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27" name="Number 27"/>
          <p:cNvSpPr/>
          <p:nvPr/>
        </p:nvSpPr>
        <p:spPr>
          <a:xfrm>
            <a:off x="6489497" y="2628900"/>
            <a:ext cx="548640" cy="5486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28" name="Objective 28"/>
          <p:cNvSpPr txBox="1"/>
          <p:nvPr/>
        </p:nvSpPr>
        <p:spPr>
          <a:xfrm>
            <a:off x="7221017" y="2468880"/>
            <a:ext cx="42519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Automate tasks using Bash scripts and cron</a:t>
            </a:r>
          </a:p>
        </p:txBody>
      </p:sp>
      <p:sp>
        <p:nvSpPr>
          <p:cNvPr id="29" name="Objective card 29"/>
          <p:cNvSpPr/>
          <p:nvPr/>
        </p:nvSpPr>
        <p:spPr>
          <a:xfrm>
            <a:off x="6306617" y="3611880"/>
            <a:ext cx="5276088" cy="1051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30" name="Number 30"/>
          <p:cNvSpPr/>
          <p:nvPr/>
        </p:nvSpPr>
        <p:spPr>
          <a:xfrm>
            <a:off x="6489497" y="3863340"/>
            <a:ext cx="548640" cy="5486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31" name="Objective 31"/>
          <p:cNvSpPr txBox="1"/>
          <p:nvPr/>
        </p:nvSpPr>
        <p:spPr>
          <a:xfrm>
            <a:off x="7221017" y="3703320"/>
            <a:ext cx="42519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Monitor disk usage and log a warning above 80%</a:t>
            </a:r>
          </a:p>
        </p:txBody>
      </p:sp>
      <p:sp>
        <p:nvSpPr>
          <p:cNvPr id="32" name="Objective card 32"/>
          <p:cNvSpPr/>
          <p:nvPr/>
        </p:nvSpPr>
        <p:spPr>
          <a:xfrm>
            <a:off x="6306617" y="4846320"/>
            <a:ext cx="5276088" cy="1051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endParaRPr lang="en-US"/>
          </a:p>
        </p:txBody>
      </p:sp>
      <p:sp>
        <p:nvSpPr>
          <p:cNvPr id="33" name="Number 33"/>
          <p:cNvSpPr/>
          <p:nvPr/>
        </p:nvSpPr>
        <p:spPr>
          <a:xfrm>
            <a:off x="6489497" y="5097780"/>
            <a:ext cx="548640" cy="54864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34" name="Objective 34"/>
          <p:cNvSpPr txBox="1"/>
          <p:nvPr/>
        </p:nvSpPr>
        <p:spPr>
          <a:xfrm>
            <a:off x="7221017" y="4855511"/>
            <a:ext cx="42519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menu-driven Bash interface with input validation and error handling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Tools and System Requirements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82448"/>
              </p:ext>
            </p:extLst>
          </p:nvPr>
        </p:nvGraphicFramePr>
        <p:xfrm>
          <a:off x="609905" y="1097280"/>
          <a:ext cx="6766560" cy="5102352"/>
        </p:xfrm>
        <a:graphic>
          <a:graphicData uri="http://schemas.openxmlformats.org/drawingml/2006/table">
            <a:tbl>
              <a:tblPr firstRow="1" bandRow="1"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Ubuntu 25.04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Operating system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Oracle VirtualBox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Virtual machine, virtual 10 GB disk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parted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GPT table and partitions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LVM commands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Flexible storage (PV, VG, LV)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ext4 and fstab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Filesystem and permanent mounting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tar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Compressed backups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Bash scripting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Backup and monitoring scripts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cron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Scheduling the scripts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df, lsblk, pvs, vgs, lvs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Checking and monitoring storage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sed, </a:t>
                      </a:r>
                      <a:r>
                        <a:rPr lang="en-US" sz="1400" b="1" dirty="0" err="1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nano</a:t>
                      </a: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 &amp; Storage_manager.sh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Editing scripts and config files,</a:t>
                      </a:r>
                      <a:b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</a:b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menu driven bash interface</a:t>
                      </a:r>
                      <a:b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</a:br>
                      <a:endParaRPr lang="en-US" sz="1400" dirty="0">
                        <a:solidFill>
                          <a:srgbClr val="22222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Header 12"/>
          <p:cNvSpPr/>
          <p:nvPr/>
        </p:nvSpPr>
        <p:spPr>
          <a:xfrm>
            <a:off x="7589520" y="1097280"/>
            <a:ext cx="3995928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82880" tIns="27432" rIns="9144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Hardware</a:t>
            </a:r>
          </a:p>
        </p:txBody>
      </p:sp>
      <p:sp>
        <p:nvSpPr>
          <p:cNvPr id="13" name="Hardware list 13"/>
          <p:cNvSpPr/>
          <p:nvPr/>
        </p:nvSpPr>
        <p:spPr>
          <a:xfrm>
            <a:off x="7589520" y="1554480"/>
            <a:ext cx="3995928" cy="20574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wrap="square" lIns="182880" tIns="137160" rIns="137160" bIns="4572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/>
                <a:cs typeface="Times New Roman"/>
              </a:rPr>
              <a:t>PC or laptop with virtualization enabled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/>
                <a:cs typeface="Times New Roman"/>
              </a:rPr>
              <a:t>4 GB RAM and 2 CPU cores for the VM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/>
                <a:cs typeface="Times New Roman"/>
              </a:rPr>
              <a:t>25 GB virtual system disk (sda)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/>
                <a:cs typeface="Times New Roman"/>
              </a:rPr>
              <a:t>10 GB virtual extra disk (sdb)</a:t>
            </a:r>
          </a:p>
        </p:txBody>
      </p:sp>
      <p:sp>
        <p:nvSpPr>
          <p:cNvPr id="14" name="Header 14"/>
          <p:cNvSpPr/>
          <p:nvPr/>
        </p:nvSpPr>
        <p:spPr>
          <a:xfrm>
            <a:off x="7589520" y="3794760"/>
            <a:ext cx="3995928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82880" tIns="27432" rIns="9144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Software</a:t>
            </a:r>
          </a:p>
        </p:txBody>
      </p:sp>
      <p:sp>
        <p:nvSpPr>
          <p:cNvPr id="15" name="Software list 15"/>
          <p:cNvSpPr/>
          <p:nvPr/>
        </p:nvSpPr>
        <p:spPr>
          <a:xfrm>
            <a:off x="7589520" y="4251960"/>
            <a:ext cx="3995928" cy="1828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wrap="square" lIns="182880" tIns="137160" rIns="137160" bIns="4572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/>
                <a:cs typeface="Times New Roman"/>
              </a:rPr>
              <a:t>Ubuntu 25.04 (Plucky Puffin), 64-bit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/>
                <a:cs typeface="Times New Roman"/>
              </a:rPr>
              <a:t>Oracle VirtualBox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/>
                <a:cs typeface="Times New Roman"/>
              </a:rPr>
              <a:t>lvm2, parted, xfsprogs, rsync, sysstat, smartmontools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/>
                <a:cs typeface="Times New Roman"/>
              </a:rPr>
              <a:t>Bash, cron, tar, sed, nano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System Architecture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Label 11"/>
          <p:cNvSpPr txBox="1"/>
          <p:nvPr/>
        </p:nvSpPr>
        <p:spPr>
          <a:xfrm>
            <a:off x="609905" y="9144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5A6472"/>
                </a:solidFill>
                <a:latin typeface="Times New Roman"/>
                <a:cs typeface="Times New Roman"/>
              </a:rPr>
              <a:t>STORAGE STACK</a:t>
            </a:r>
          </a:p>
        </p:txBody>
      </p:sp>
      <p:sp>
        <p:nvSpPr>
          <p:cNvPr id="12" name="Stack layer 12"/>
          <p:cNvSpPr/>
          <p:nvPr/>
        </p:nvSpPr>
        <p:spPr>
          <a:xfrm>
            <a:off x="609905" y="1280160"/>
            <a:ext cx="1371600" cy="155448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5875">
            <a:solidFill>
              <a:srgbClr val="1F3A5F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/>
                <a:cs typeface="Times New Roman"/>
              </a:rPr>
              <a:t>Disk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/>
                <a:cs typeface="Times New Roman"/>
              </a:rPr>
              <a:t>/dev/sdb 10 GB</a:t>
            </a:r>
          </a:p>
        </p:txBody>
      </p:sp>
      <p:sp>
        <p:nvSpPr>
          <p:cNvPr id="13" name="Arrow 13"/>
          <p:cNvSpPr/>
          <p:nvPr/>
        </p:nvSpPr>
        <p:spPr>
          <a:xfrm>
            <a:off x="2008937" y="1911096"/>
            <a:ext cx="182880" cy="292608"/>
          </a:xfrm>
          <a:prstGeom prst="rightArrow">
            <a:avLst/>
          </a:prstGeom>
          <a:solidFill>
            <a:srgbClr val="9AA8BA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14" name="Stack layer 14"/>
          <p:cNvSpPr/>
          <p:nvPr/>
        </p:nvSpPr>
        <p:spPr>
          <a:xfrm>
            <a:off x="2210105" y="1280160"/>
            <a:ext cx="1371600" cy="155448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5875">
            <a:solidFill>
              <a:srgbClr val="1F3A5F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/>
                <a:cs typeface="Times New Roman"/>
              </a:rPr>
              <a:t>Partitions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/>
                <a:cs typeface="Times New Roman"/>
              </a:rPr>
              <a:t>sdb1 4G, sdb2 4G, sdb3 2G</a:t>
            </a:r>
          </a:p>
        </p:txBody>
      </p:sp>
      <p:sp>
        <p:nvSpPr>
          <p:cNvPr id="15" name="Arrow 15"/>
          <p:cNvSpPr/>
          <p:nvPr/>
        </p:nvSpPr>
        <p:spPr>
          <a:xfrm>
            <a:off x="3609137" y="1911096"/>
            <a:ext cx="182880" cy="292608"/>
          </a:xfrm>
          <a:prstGeom prst="rightArrow">
            <a:avLst/>
          </a:prstGeom>
          <a:solidFill>
            <a:srgbClr val="9AA8BA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16" name="Stack layer 16"/>
          <p:cNvSpPr/>
          <p:nvPr/>
        </p:nvSpPr>
        <p:spPr>
          <a:xfrm>
            <a:off x="3810305" y="1280160"/>
            <a:ext cx="1371600" cy="155448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5875">
            <a:solidFill>
              <a:srgbClr val="1F3A5F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/>
                <a:cs typeface="Times New Roman"/>
              </a:rPr>
              <a:t>PV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/>
                <a:cs typeface="Times New Roman"/>
              </a:rPr>
              <a:t>Physical volumes on the 3 partitions</a:t>
            </a:r>
          </a:p>
        </p:txBody>
      </p:sp>
      <p:sp>
        <p:nvSpPr>
          <p:cNvPr id="17" name="Arrow 17"/>
          <p:cNvSpPr/>
          <p:nvPr/>
        </p:nvSpPr>
        <p:spPr>
          <a:xfrm>
            <a:off x="5209337" y="1911096"/>
            <a:ext cx="182880" cy="292608"/>
          </a:xfrm>
          <a:prstGeom prst="rightArrow">
            <a:avLst/>
          </a:prstGeom>
          <a:solidFill>
            <a:srgbClr val="9AA8BA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18" name="Stack layer 18"/>
          <p:cNvSpPr/>
          <p:nvPr/>
        </p:nvSpPr>
        <p:spPr>
          <a:xfrm>
            <a:off x="5410505" y="1280160"/>
            <a:ext cx="1371600" cy="155448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5875">
            <a:solidFill>
              <a:srgbClr val="1F3A5F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/>
                <a:cs typeface="Times New Roman"/>
              </a:rPr>
              <a:t>VG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/>
                <a:cs typeface="Times New Roman"/>
              </a:rPr>
              <a:t>vg_storage, about 10 GB</a:t>
            </a:r>
          </a:p>
        </p:txBody>
      </p:sp>
      <p:sp>
        <p:nvSpPr>
          <p:cNvPr id="19" name="Arrow 19"/>
          <p:cNvSpPr/>
          <p:nvPr/>
        </p:nvSpPr>
        <p:spPr>
          <a:xfrm>
            <a:off x="6809537" y="1911096"/>
            <a:ext cx="182880" cy="292608"/>
          </a:xfrm>
          <a:prstGeom prst="rightArrow">
            <a:avLst/>
          </a:prstGeom>
          <a:solidFill>
            <a:srgbClr val="9AA8BA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20" name="Stack layer 20"/>
          <p:cNvSpPr/>
          <p:nvPr/>
        </p:nvSpPr>
        <p:spPr>
          <a:xfrm>
            <a:off x="7010705" y="1280160"/>
            <a:ext cx="1371600" cy="155448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5875">
            <a:solidFill>
              <a:srgbClr val="1F3A5F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/>
                <a:cs typeface="Times New Roman"/>
              </a:rPr>
              <a:t>LV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rgbClr val="222222"/>
                </a:solidFill>
                <a:latin typeface="Times New Roman"/>
                <a:cs typeface="Times New Roman"/>
              </a:rPr>
              <a:t>lv_data</a:t>
            </a:r>
            <a:r>
              <a:rPr lang="en-US" sz="1200" dirty="0">
                <a:solidFill>
                  <a:srgbClr val="222222"/>
                </a:solidFill>
                <a:latin typeface="Times New Roman"/>
                <a:cs typeface="Times New Roman"/>
              </a:rPr>
              <a:t> 600M, lv_backup 200M</a:t>
            </a:r>
          </a:p>
        </p:txBody>
      </p:sp>
      <p:sp>
        <p:nvSpPr>
          <p:cNvPr id="21" name="Arrow 21"/>
          <p:cNvSpPr/>
          <p:nvPr/>
        </p:nvSpPr>
        <p:spPr>
          <a:xfrm>
            <a:off x="8409737" y="1911096"/>
            <a:ext cx="182880" cy="292608"/>
          </a:xfrm>
          <a:prstGeom prst="rightArrow">
            <a:avLst/>
          </a:prstGeom>
          <a:solidFill>
            <a:srgbClr val="9AA8BA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22" name="Stack layer 22"/>
          <p:cNvSpPr/>
          <p:nvPr/>
        </p:nvSpPr>
        <p:spPr>
          <a:xfrm>
            <a:off x="8610905" y="1280160"/>
            <a:ext cx="1371600" cy="155448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5875">
            <a:solidFill>
              <a:srgbClr val="1F3A5F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/>
                <a:cs typeface="Times New Roman"/>
              </a:rPr>
              <a:t>Filesystem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/>
                <a:cs typeface="Times New Roman"/>
              </a:rPr>
              <a:t>ext4 on each LV</a:t>
            </a:r>
          </a:p>
        </p:txBody>
      </p:sp>
      <p:sp>
        <p:nvSpPr>
          <p:cNvPr id="23" name="Arrow 23"/>
          <p:cNvSpPr/>
          <p:nvPr/>
        </p:nvSpPr>
        <p:spPr>
          <a:xfrm>
            <a:off x="10009937" y="1911096"/>
            <a:ext cx="182880" cy="292608"/>
          </a:xfrm>
          <a:prstGeom prst="rightArrow">
            <a:avLst/>
          </a:prstGeom>
          <a:solidFill>
            <a:srgbClr val="9AA8BA"/>
          </a:solidFill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endParaRPr lang="en-US"/>
          </a:p>
        </p:txBody>
      </p:sp>
      <p:sp>
        <p:nvSpPr>
          <p:cNvPr id="24" name="Stack layer 24"/>
          <p:cNvSpPr/>
          <p:nvPr/>
        </p:nvSpPr>
        <p:spPr>
          <a:xfrm>
            <a:off x="10211105" y="1280160"/>
            <a:ext cx="1371600" cy="155448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 w="15875">
            <a:solidFill>
              <a:srgbClr val="1F3A5F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/>
                <a:cs typeface="Times New Roman"/>
              </a:rPr>
              <a:t>Mount point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/>
                <a:cs typeface="Times New Roman"/>
              </a:rPr>
              <a:t>/mnt/data and /mnt/backup</a:t>
            </a:r>
          </a:p>
        </p:txBody>
      </p:sp>
      <p:sp>
        <p:nvSpPr>
          <p:cNvPr id="25" name="Label 25"/>
          <p:cNvSpPr txBox="1"/>
          <p:nvPr/>
        </p:nvSpPr>
        <p:spPr>
          <a:xfrm>
            <a:off x="609905" y="31089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5A6472"/>
                </a:solidFill>
                <a:latin typeface="Times New Roman"/>
                <a:cs typeface="Times New Roman"/>
              </a:rPr>
              <a:t>PROTECTION AND SUPERVISION</a:t>
            </a:r>
          </a:p>
        </p:txBody>
      </p:sp>
      <p:sp>
        <p:nvSpPr>
          <p:cNvPr id="26" name="Support card 26"/>
          <p:cNvSpPr/>
          <p:nvPr/>
        </p:nvSpPr>
        <p:spPr>
          <a:xfrm>
            <a:off x="609905" y="3520440"/>
            <a:ext cx="3520440" cy="23317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3A5F"/>
                </a:solidFill>
                <a:latin typeface="Times New Roman"/>
                <a:cs typeface="Times New Roman"/>
              </a:rPr>
              <a:t>Backup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Times New Roman"/>
                <a:cs typeface="Times New Roman"/>
              </a:rPr>
              <a:t>backup.sh compresses /mnt/data into /mnt/backup/data_DATE.tar.gz and records the result in /var/log/backup.log</a:t>
            </a:r>
          </a:p>
        </p:txBody>
      </p:sp>
      <p:sp>
        <p:nvSpPr>
          <p:cNvPr id="27" name="Support card 27"/>
          <p:cNvSpPr/>
          <p:nvPr/>
        </p:nvSpPr>
        <p:spPr>
          <a:xfrm>
            <a:off x="4336085" y="3520440"/>
            <a:ext cx="3520440" cy="23317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3A5F"/>
                </a:solidFill>
                <a:latin typeface="Times New Roman"/>
                <a:cs typeface="Times New Roman"/>
              </a:rPr>
              <a:t>Automation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Times New Roman"/>
                <a:cs typeface="Times New Roman"/>
              </a:rPr>
              <a:t>cron runs backup.sh every day at 2 AM and monitor.sh every 10 minutes</a:t>
            </a:r>
          </a:p>
        </p:txBody>
      </p:sp>
      <p:sp>
        <p:nvSpPr>
          <p:cNvPr id="28" name="Support card 28"/>
          <p:cNvSpPr/>
          <p:nvPr/>
        </p:nvSpPr>
        <p:spPr>
          <a:xfrm>
            <a:off x="8062265" y="3520440"/>
            <a:ext cx="3520440" cy="23317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3A5F"/>
                </a:solidFill>
                <a:latin typeface="Times New Roman"/>
                <a:cs typeface="Times New Roman"/>
              </a:rPr>
              <a:t>Monitoring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storage_manager.sh provides menu options to view storage status and monitoring logs.storage_monitor.sh provides menu options to view storage status and monitoring logs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solidFill>
                <a:srgbClr val="1F3A5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Implementation: Partitioning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Partitioning points 11"/>
          <p:cNvSpPr txBox="1"/>
          <p:nvPr/>
        </p:nvSpPr>
        <p:spPr>
          <a:xfrm>
            <a:off x="609905" y="1143000"/>
            <a:ext cx="475488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A separate 10 GB disk(/dev/</a:t>
            </a:r>
            <a:r>
              <a:rPr lang="en-US" sz="1600" dirty="0" err="1">
                <a:solidFill>
                  <a:srgbClr val="222222"/>
                </a:solidFill>
                <a:latin typeface="Times New Roman"/>
                <a:cs typeface="Times New Roman"/>
              </a:rPr>
              <a:t>sdb</a:t>
            </a: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) was used for storage, keeping it separate from the system disk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GPT partition table created with parted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Three partitions: sdb1 (4G), sdb2 (4G), sdb3 (2G)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All three flagged as lvm</a:t>
            </a:r>
          </a:p>
        </p:txBody>
      </p:sp>
      <p:sp>
        <p:nvSpPr>
          <p:cNvPr id="12" name="Commands 12"/>
          <p:cNvSpPr/>
          <p:nvPr/>
        </p:nvSpPr>
        <p:spPr>
          <a:xfrm>
            <a:off x="609905" y="3246120"/>
            <a:ext cx="4754880" cy="1600200"/>
          </a:xfrm>
          <a:prstGeom prst="rect">
            <a:avLst/>
          </a:prstGeom>
          <a:solidFill>
            <a:srgbClr val="F4F4F4"/>
          </a:solidFill>
          <a:ln w="9525">
            <a:solidFill>
              <a:srgbClr val="BFC8D4"/>
            </a:solidFill>
          </a:ln>
        </p:spPr>
        <p:txBody>
          <a:bodyPr wrap="square" lIns="13716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parted /dev/sdb --script mklabel gpt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parted /dev/sdb --script mkpart primary 1MiB 4GiB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parted /dev/sdb --script mkpart primary 4GiB 8GiB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parted /dev/sdb --script mkpart primary 8GiB 100%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parted /dev/sdb --script set 1 lvm on</a:t>
            </a:r>
          </a:p>
        </p:txBody>
      </p:sp>
      <p:pic>
        <p:nvPicPr>
          <p:cNvPr id="13" name="Screenshot 13" descr="lsblk: sdb with partitions sdb1, sdb2 and sdb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794" y="1097280"/>
            <a:ext cx="4549140" cy="2926080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4" name="Caption 14"/>
          <p:cNvSpPr txBox="1"/>
          <p:nvPr/>
        </p:nvSpPr>
        <p:spPr>
          <a:xfrm>
            <a:off x="5669280" y="4059936"/>
            <a:ext cx="591616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lsblk: sdb with partitions sdb1, sdb2 and sdb3</a:t>
            </a:r>
          </a:p>
        </p:txBody>
      </p:sp>
      <p:pic>
        <p:nvPicPr>
          <p:cNvPr id="15" name="Screenshot 15" descr="parted print: lvm flag set on partitions 1, 2 an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326" y="4434840"/>
            <a:ext cx="4250076" cy="1554480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6" name="Caption 16"/>
          <p:cNvSpPr txBox="1"/>
          <p:nvPr/>
        </p:nvSpPr>
        <p:spPr>
          <a:xfrm>
            <a:off x="5669280" y="6025896"/>
            <a:ext cx="591616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parted print: lvm flag set on partitions 1, 2 and 3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Implementation: LVM Setup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LVM points 11"/>
          <p:cNvSpPr txBox="1"/>
          <p:nvPr/>
        </p:nvSpPr>
        <p:spPr>
          <a:xfrm>
            <a:off x="609905" y="1143000"/>
            <a:ext cx="3840480" cy="274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PV: pvcreate on sdb1 and sdb2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VG: vg_storage created from the PVs (about 8 GB)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LV: </a:t>
            </a:r>
            <a:r>
              <a:rPr lang="en-US" sz="1600" dirty="0" err="1">
                <a:solidFill>
                  <a:srgbClr val="222222"/>
                </a:solidFill>
                <a:latin typeface="Times New Roman"/>
                <a:cs typeface="Times New Roman"/>
              </a:rPr>
              <a:t>lv_data</a:t>
            </a: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 (600 MB) and lv_backup (200 MB)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sdb3 added later with vgextend, so the pool grew to about 10 GB</a:t>
            </a:r>
          </a:p>
        </p:txBody>
      </p:sp>
      <p:sp>
        <p:nvSpPr>
          <p:cNvPr id="12" name="Commands 12"/>
          <p:cNvSpPr/>
          <p:nvPr/>
        </p:nvSpPr>
        <p:spPr>
          <a:xfrm>
            <a:off x="609905" y="3566160"/>
            <a:ext cx="3840480" cy="1554480"/>
          </a:xfrm>
          <a:prstGeom prst="rect">
            <a:avLst/>
          </a:prstGeom>
          <a:solidFill>
            <a:srgbClr val="F4F4F4"/>
          </a:solidFill>
          <a:ln w="9525">
            <a:solidFill>
              <a:srgbClr val="BFC8D4"/>
            </a:solidFill>
          </a:ln>
        </p:spPr>
        <p:txBody>
          <a:bodyPr wrap="square" lIns="13716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pvcreate /dev/sdb1 /dev/sdb2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vgcreate vg_storage /dev/sdb1 /dev/sdb2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lvcreate -L 300M -n lv_data vg_storage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lvcreate -L 200M -n lv_backup vg_storage</a:t>
            </a:r>
          </a:p>
        </p:txBody>
      </p:sp>
      <p:sp>
        <p:nvSpPr>
          <p:cNvPr id="13" name="Screenshot placeholder 13"/>
          <p:cNvSpPr/>
          <p:nvPr/>
        </p:nvSpPr>
        <p:spPr>
          <a:xfrm>
            <a:off x="4663440" y="1097280"/>
            <a:ext cx="3383280" cy="210312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phase3_pvs.png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Output of: sudo pvs</a:t>
            </a:r>
          </a:p>
        </p:txBody>
      </p:sp>
      <p:sp>
        <p:nvSpPr>
          <p:cNvPr id="14" name="Caption 14"/>
          <p:cNvSpPr txBox="1"/>
          <p:nvPr/>
        </p:nvSpPr>
        <p:spPr>
          <a:xfrm>
            <a:off x="4663440" y="32369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pvs: physical volumes</a:t>
            </a:r>
          </a:p>
        </p:txBody>
      </p:sp>
      <p:sp>
        <p:nvSpPr>
          <p:cNvPr id="15" name="Screenshot placeholder 15"/>
          <p:cNvSpPr/>
          <p:nvPr/>
        </p:nvSpPr>
        <p:spPr>
          <a:xfrm>
            <a:off x="8202168" y="1097280"/>
            <a:ext cx="3383280" cy="210312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phase3_vgs.png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Output of: sudo vgs</a:t>
            </a:r>
          </a:p>
        </p:txBody>
      </p:sp>
      <p:sp>
        <p:nvSpPr>
          <p:cNvPr id="16" name="Caption 16"/>
          <p:cNvSpPr txBox="1"/>
          <p:nvPr/>
        </p:nvSpPr>
        <p:spPr>
          <a:xfrm>
            <a:off x="8202168" y="32369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vgs: volume group vg_storage</a:t>
            </a:r>
          </a:p>
        </p:txBody>
      </p:sp>
      <p:sp>
        <p:nvSpPr>
          <p:cNvPr id="17" name="Screenshot placeholder 17"/>
          <p:cNvSpPr/>
          <p:nvPr/>
        </p:nvSpPr>
        <p:spPr>
          <a:xfrm>
            <a:off x="4663440" y="3657600"/>
            <a:ext cx="3383280" cy="210312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phase3_lvs.png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Output of: sudo lvs</a:t>
            </a:r>
          </a:p>
        </p:txBody>
      </p:sp>
      <p:sp>
        <p:nvSpPr>
          <p:cNvPr id="18" name="Caption 18"/>
          <p:cNvSpPr txBox="1"/>
          <p:nvPr/>
        </p:nvSpPr>
        <p:spPr>
          <a:xfrm>
            <a:off x="4663440" y="579729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lvs: logical volumes</a:t>
            </a:r>
          </a:p>
        </p:txBody>
      </p:sp>
      <p:pic>
        <p:nvPicPr>
          <p:cNvPr id="19" name="Screenshot 19" descr="sdb3 added with vgextend (pvs and vg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3657600"/>
            <a:ext cx="3383280" cy="1251988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20" name="Caption 20"/>
          <p:cNvSpPr txBox="1"/>
          <p:nvPr/>
        </p:nvSpPr>
        <p:spPr>
          <a:xfrm>
            <a:off x="8202168" y="494616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sdb3 added with vgextend (pvs and vgs)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740A9A-F81D-4168-BD8F-E3CD3E240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97280"/>
            <a:ext cx="3383280" cy="21031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CD2F5A-9C38-4060-BABC-41D5DAFA7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814" y="1060704"/>
            <a:ext cx="3383281" cy="21396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814F89-FB29-4543-8048-E7B9642E98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38" y="3657600"/>
            <a:ext cx="3383281" cy="213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Implementation: Filesystem and Mounting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Filesystem points 11"/>
          <p:cNvSpPr txBox="1"/>
          <p:nvPr/>
        </p:nvSpPr>
        <p:spPr>
          <a:xfrm>
            <a:off x="609905" y="114300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ext4 filesystem created on lv_data and lv_backup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Mounted at /mnt/data and /mnt/backup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Two entries added to /etc/fstab so the mounts survive a reboot</a:t>
            </a:r>
          </a:p>
        </p:txBody>
      </p:sp>
      <p:sp>
        <p:nvSpPr>
          <p:cNvPr id="12" name="Commands 12"/>
          <p:cNvSpPr/>
          <p:nvPr/>
        </p:nvSpPr>
        <p:spPr>
          <a:xfrm>
            <a:off x="609905" y="3108960"/>
            <a:ext cx="4114800" cy="1554480"/>
          </a:xfrm>
          <a:prstGeom prst="rect">
            <a:avLst/>
          </a:prstGeom>
          <a:solidFill>
            <a:srgbClr val="F4F4F4"/>
          </a:solidFill>
          <a:ln w="9525">
            <a:solidFill>
              <a:srgbClr val="BFC8D4"/>
            </a:solidFill>
          </a:ln>
        </p:spPr>
        <p:txBody>
          <a:bodyPr wrap="square" lIns="13716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mkfs.ext4 /dev/vg_storage/lv_data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mkfs.ext4 /dev/vg_storage/lv_backup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mount /dev/vg_storage/lv_data /mnt/data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sudo mount /dev/vg_storage/lv_backup /mnt/backup</a:t>
            </a:r>
          </a:p>
        </p:txBody>
      </p:sp>
      <p:sp>
        <p:nvSpPr>
          <p:cNvPr id="13" name="Screenshot placeholder 13"/>
          <p:cNvSpPr/>
          <p:nvPr/>
        </p:nvSpPr>
        <p:spPr>
          <a:xfrm>
            <a:off x="4937760" y="1097280"/>
            <a:ext cx="6647688" cy="137160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phase4_filesystems.png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Output of: lsblk -f</a:t>
            </a:r>
          </a:p>
        </p:txBody>
      </p:sp>
      <p:sp>
        <p:nvSpPr>
          <p:cNvPr id="14" name="Caption 14"/>
          <p:cNvSpPr txBox="1"/>
          <p:nvPr/>
        </p:nvSpPr>
        <p:spPr>
          <a:xfrm>
            <a:off x="4937760" y="2505456"/>
            <a:ext cx="6647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lsblk -f: ext4 on lv_data and lv_backup</a:t>
            </a:r>
          </a:p>
        </p:txBody>
      </p:sp>
      <p:pic>
        <p:nvPicPr>
          <p:cNvPr id="15" name="Screenshot 15" descr="df -h: both volumes moun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88920"/>
            <a:ext cx="6647688" cy="1076681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6" name="Caption 16"/>
          <p:cNvSpPr txBox="1"/>
          <p:nvPr/>
        </p:nvSpPr>
        <p:spPr>
          <a:xfrm>
            <a:off x="4937760" y="3902177"/>
            <a:ext cx="6647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df -h: both volumes mounted</a:t>
            </a:r>
          </a:p>
        </p:txBody>
      </p:sp>
      <p:sp>
        <p:nvSpPr>
          <p:cNvPr id="17" name="Screenshot placeholder 17"/>
          <p:cNvSpPr/>
          <p:nvPr/>
        </p:nvSpPr>
        <p:spPr>
          <a:xfrm>
            <a:off x="4937760" y="4480560"/>
            <a:ext cx="6647688" cy="137160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phase4_fstab.png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Output of: cat /etc/fstab</a:t>
            </a:r>
          </a:p>
        </p:txBody>
      </p:sp>
      <p:sp>
        <p:nvSpPr>
          <p:cNvPr id="18" name="Caption 18"/>
          <p:cNvSpPr txBox="1"/>
          <p:nvPr/>
        </p:nvSpPr>
        <p:spPr>
          <a:xfrm>
            <a:off x="4937760" y="5888736"/>
            <a:ext cx="6647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cat /etc/fstab: permanent mount entries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80E86C-6BB9-4333-BDD8-790D7B4F2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06423"/>
            <a:ext cx="6806616" cy="13624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1E198C-B623-45A1-8515-5697D5F8B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4406" y="4480560"/>
            <a:ext cx="6647689" cy="138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LVM Management: Extend and Snapshot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Header 11"/>
          <p:cNvSpPr/>
          <p:nvPr/>
        </p:nvSpPr>
        <p:spPr>
          <a:xfrm>
            <a:off x="609905" y="1143000"/>
            <a:ext cx="534924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82880" tIns="27432" rIns="9144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Extend lv_data online</a:t>
            </a:r>
          </a:p>
        </p:txBody>
      </p:sp>
      <p:sp>
        <p:nvSpPr>
          <p:cNvPr id="12" name="Points 12"/>
          <p:cNvSpPr txBox="1"/>
          <p:nvPr/>
        </p:nvSpPr>
        <p:spPr>
          <a:xfrm>
            <a:off x="609905" y="1737360"/>
            <a:ext cx="534924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lv_data grown from 300 MB to 600 MB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sudo lvextend -L +200M -r /dev/vg_storage/lv_data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The -r option also resizes the ext4 filesystem, with no unmount</a:t>
            </a:r>
          </a:p>
        </p:txBody>
      </p:sp>
      <p:sp>
        <p:nvSpPr>
          <p:cNvPr id="13" name="Screenshot placeholder 13"/>
          <p:cNvSpPr/>
          <p:nvPr/>
        </p:nvSpPr>
        <p:spPr>
          <a:xfrm>
            <a:off x="609905" y="3337560"/>
            <a:ext cx="5349240" cy="265176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phase4_extend_lv.png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df -h /mnt/data (after) + sudo lvs</a:t>
            </a:r>
          </a:p>
        </p:txBody>
      </p:sp>
      <p:sp>
        <p:nvSpPr>
          <p:cNvPr id="14" name="Caption 14"/>
          <p:cNvSpPr txBox="1"/>
          <p:nvPr/>
        </p:nvSpPr>
        <p:spPr>
          <a:xfrm>
            <a:off x="609905" y="6025896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df -h /mnt/data after the extend, and lvs</a:t>
            </a:r>
          </a:p>
        </p:txBody>
      </p:sp>
      <p:sp>
        <p:nvSpPr>
          <p:cNvPr id="15" name="Header 15"/>
          <p:cNvSpPr/>
          <p:nvPr/>
        </p:nvSpPr>
        <p:spPr>
          <a:xfrm>
            <a:off x="6233465" y="1143000"/>
            <a:ext cx="534924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82880" tIns="27432" rIns="9144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Snapshot and recovery</a:t>
            </a:r>
          </a:p>
        </p:txBody>
      </p:sp>
      <p:sp>
        <p:nvSpPr>
          <p:cNvPr id="16" name="Points 16"/>
          <p:cNvSpPr txBox="1"/>
          <p:nvPr/>
        </p:nvSpPr>
        <p:spPr>
          <a:xfrm>
            <a:off x="6233465" y="1737360"/>
            <a:ext cx="534924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Created test.txt, then took a 100 MB snapshot (snap_data)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Deleted test.txt from /mnt/data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Mounted the snapshot read-only and recovered the file</a:t>
            </a:r>
          </a:p>
        </p:txBody>
      </p:sp>
      <p:sp>
        <p:nvSpPr>
          <p:cNvPr id="17" name="Screenshot placeholder 17"/>
          <p:cNvSpPr/>
          <p:nvPr/>
        </p:nvSpPr>
        <p:spPr>
          <a:xfrm>
            <a:off x="6233465" y="3337560"/>
            <a:ext cx="5349240" cy="265176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phase4_snapshot.png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sudo lvs + cat /mnt/snap/test.txt</a:t>
            </a:r>
          </a:p>
        </p:txBody>
      </p:sp>
      <p:sp>
        <p:nvSpPr>
          <p:cNvPr id="18" name="Caption 18"/>
          <p:cNvSpPr txBox="1"/>
          <p:nvPr/>
        </p:nvSpPr>
        <p:spPr>
          <a:xfrm>
            <a:off x="6233465" y="6025896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lvs with snap_data, and cat /mnt/snap/test.txt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B10948-3E8F-4CC4-92CB-44695FA65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85" y="3337560"/>
            <a:ext cx="5356251" cy="2707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72D64A-46D2-4AE7-82C8-447BD6311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58" y="3328416"/>
            <a:ext cx="5349238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Backup and Restore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Header 11"/>
          <p:cNvSpPr/>
          <p:nvPr/>
        </p:nvSpPr>
        <p:spPr>
          <a:xfrm>
            <a:off x="609905" y="1143000"/>
            <a:ext cx="352044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82880" tIns="27432" rIns="9144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1. Backup script</a:t>
            </a:r>
          </a:p>
        </p:txBody>
      </p:sp>
      <p:sp>
        <p:nvSpPr>
          <p:cNvPr id="12" name="Description 12"/>
          <p:cNvSpPr txBox="1"/>
          <p:nvPr/>
        </p:nvSpPr>
        <p:spPr>
          <a:xfrm>
            <a:off x="609905" y="1691640"/>
            <a:ext cx="3520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Times New Roman"/>
                <a:cs typeface="Times New Roman"/>
              </a:rPr>
              <a:t>backup.sh compresses /mnt/data with tar into /mnt/backup/data_DATE.tar.gz</a:t>
            </a:r>
          </a:p>
        </p:txBody>
      </p:sp>
      <p:sp>
        <p:nvSpPr>
          <p:cNvPr id="13" name="Screenshot placeholder 13"/>
          <p:cNvSpPr/>
          <p:nvPr/>
        </p:nvSpPr>
        <p:spPr>
          <a:xfrm>
            <a:off x="609905" y="2743200"/>
            <a:ext cx="3520440" cy="320040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phase5_backup_script.png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Output of: cat /usr/local/bin/backup.sh</a:t>
            </a:r>
          </a:p>
        </p:txBody>
      </p:sp>
      <p:sp>
        <p:nvSpPr>
          <p:cNvPr id="14" name="Caption 14"/>
          <p:cNvSpPr txBox="1"/>
          <p:nvPr/>
        </p:nvSpPr>
        <p:spPr>
          <a:xfrm>
            <a:off x="609905" y="598017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cat /usr/local/bin/backup.sh</a:t>
            </a:r>
          </a:p>
        </p:txBody>
      </p:sp>
      <p:sp>
        <p:nvSpPr>
          <p:cNvPr id="15" name="Header 15"/>
          <p:cNvSpPr/>
          <p:nvPr/>
        </p:nvSpPr>
        <p:spPr>
          <a:xfrm>
            <a:off x="4336085" y="1143000"/>
            <a:ext cx="352044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82880" tIns="27432" rIns="9144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2. Backup run</a:t>
            </a:r>
          </a:p>
        </p:txBody>
      </p:sp>
      <p:sp>
        <p:nvSpPr>
          <p:cNvPr id="17" name="Screenshot placeholder 17"/>
          <p:cNvSpPr/>
          <p:nvPr/>
        </p:nvSpPr>
        <p:spPr>
          <a:xfrm>
            <a:off x="4336085" y="2743200"/>
            <a:ext cx="3520440" cy="320040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phase5_backup_run.png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ls -lh /mnt/backup + cat /var/log/backup.log</a:t>
            </a:r>
          </a:p>
        </p:txBody>
      </p:sp>
      <p:sp>
        <p:nvSpPr>
          <p:cNvPr id="18" name="Caption 18"/>
          <p:cNvSpPr txBox="1"/>
          <p:nvPr/>
        </p:nvSpPr>
        <p:spPr>
          <a:xfrm>
            <a:off x="4336085" y="598017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ls -lh /mnt/backup and cat /var/log/backup.log</a:t>
            </a:r>
          </a:p>
        </p:txBody>
      </p:sp>
      <p:sp>
        <p:nvSpPr>
          <p:cNvPr id="19" name="Header 19"/>
          <p:cNvSpPr/>
          <p:nvPr/>
        </p:nvSpPr>
        <p:spPr>
          <a:xfrm>
            <a:off x="8062265" y="1143000"/>
            <a:ext cx="352044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82880" tIns="27432" rIns="9144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3. Restore test</a:t>
            </a:r>
          </a:p>
        </p:txBody>
      </p:sp>
      <p:sp>
        <p:nvSpPr>
          <p:cNvPr id="20" name="Description 20"/>
          <p:cNvSpPr txBox="1"/>
          <p:nvPr/>
        </p:nvSpPr>
        <p:spPr>
          <a:xfrm>
            <a:off x="8062265" y="1691640"/>
            <a:ext cx="3520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Times New Roman"/>
                <a:cs typeface="Times New Roman"/>
              </a:rPr>
              <a:t>Archive extracted into ~/restore_test and the files and contents verified</a:t>
            </a:r>
          </a:p>
        </p:txBody>
      </p:sp>
      <p:sp>
        <p:nvSpPr>
          <p:cNvPr id="21" name="Screenshot placeholder 21"/>
          <p:cNvSpPr/>
          <p:nvPr/>
        </p:nvSpPr>
        <p:spPr>
          <a:xfrm>
            <a:off x="8062265" y="2743200"/>
            <a:ext cx="3520440" cy="3200400"/>
          </a:xfrm>
          <a:prstGeom prst="rect">
            <a:avLst/>
          </a:prstGeom>
          <a:solidFill>
            <a:srgbClr val="FBF3F5"/>
          </a:solidFill>
          <a:ln w="19050">
            <a:solidFill>
              <a:srgbClr val="8C1D40"/>
            </a:solidFill>
            <a:prstDash val="dash"/>
          </a:ln>
        </p:spPr>
        <p:txBody>
          <a:bodyPr wrap="square" lIns="109728" tIns="54864" rIns="109728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1D40"/>
                </a:solidFill>
                <a:latin typeface="Times New Roman"/>
                <a:cs typeface="Times New Roman"/>
              </a:rPr>
              <a:t>ADD SCREENSHOT HERE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ourier New"/>
                <a:cs typeface="Courier New"/>
              </a:rPr>
              <a:t>phase5_restore_test.png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ls ~/restore_test/data + cat test.txt</a:t>
            </a:r>
          </a:p>
        </p:txBody>
      </p:sp>
      <p:sp>
        <p:nvSpPr>
          <p:cNvPr id="22" name="Caption 22"/>
          <p:cNvSpPr txBox="1"/>
          <p:nvPr/>
        </p:nvSpPr>
        <p:spPr>
          <a:xfrm>
            <a:off x="8062265" y="598017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ls and cat in ~/restore_test/data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368ECA-C129-43AC-919F-E25CDABF0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96" y="2743199"/>
            <a:ext cx="3520440" cy="32003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95C60D-93E1-42B1-A283-B2E4BB040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657" y="2734055"/>
            <a:ext cx="3520438" cy="3200399"/>
          </a:xfrm>
          <a:prstGeom prst="rect">
            <a:avLst/>
          </a:prstGeom>
        </p:spPr>
      </p:pic>
      <p:sp>
        <p:nvSpPr>
          <p:cNvPr id="6" name="AutoShape 2" descr="blob:https://web.whatsapp.com/a94fffc6-2d83-410d-a2ed-a59552238f5c">
            <a:extLst>
              <a:ext uri="{FF2B5EF4-FFF2-40B4-BE49-F238E27FC236}">
                <a16:creationId xmlns:a16="http://schemas.microsoft.com/office/drawing/2014/main" id="{62CD3000-FA64-4688-A2B1-CB5939832A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blob:https://web.whatsapp.com/a94fffc6-2d83-410d-a2ed-a59552238f5c">
            <a:extLst>
              <a:ext uri="{FF2B5EF4-FFF2-40B4-BE49-F238E27FC236}">
                <a16:creationId xmlns:a16="http://schemas.microsoft.com/office/drawing/2014/main" id="{C4BFEFF2-D826-45EE-A54B-B485A6AD2A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C99729-9F4A-4CEC-8650-3DB468EC4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868" y="2697478"/>
            <a:ext cx="3520439" cy="3282697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17570D33-6CFB-4811-BE2A-EED1A5966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8643" y="1615470"/>
            <a:ext cx="3733014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 the script creates a timestamped .tar.gz backup in /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/backup and updates the log.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Automation using cron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Cron points 11"/>
          <p:cNvSpPr txBox="1"/>
          <p:nvPr/>
        </p:nvSpPr>
        <p:spPr>
          <a:xfrm>
            <a:off x="609905" y="1143000"/>
            <a:ext cx="3840480" cy="2560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backup.sh runs every day at 2:00 AM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monitor.sh runs every 10 minutes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The cron service is active (running) and enabled at boot</a:t>
            </a:r>
          </a:p>
        </p:txBody>
      </p:sp>
      <p:sp>
        <p:nvSpPr>
          <p:cNvPr id="12" name="Commands 12"/>
          <p:cNvSpPr/>
          <p:nvPr/>
        </p:nvSpPr>
        <p:spPr>
          <a:xfrm>
            <a:off x="609905" y="3383280"/>
            <a:ext cx="3840480" cy="822960"/>
          </a:xfrm>
          <a:prstGeom prst="rect">
            <a:avLst/>
          </a:prstGeom>
          <a:solidFill>
            <a:srgbClr val="F4F4F4"/>
          </a:solidFill>
          <a:ln w="9525">
            <a:solidFill>
              <a:srgbClr val="BFC8D4"/>
            </a:solidFill>
          </a:ln>
        </p:spPr>
        <p:txBody>
          <a:bodyPr wrap="square" lIns="13716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0 2 * * * /usr/local/bin/backup.sh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urier New"/>
                <a:cs typeface="Courier New"/>
              </a:rPr>
              <a:t>*/10 * * * * /usr/local/bin/monitor.sh</a:t>
            </a:r>
          </a:p>
        </p:txBody>
      </p:sp>
      <p:pic>
        <p:nvPicPr>
          <p:cNvPr id="13" name="Screenshot 13" descr="crontab -l: backup and monitor job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3383280" cy="2300818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4" name="Caption 14"/>
          <p:cNvSpPr txBox="1"/>
          <p:nvPr/>
        </p:nvSpPr>
        <p:spPr>
          <a:xfrm>
            <a:off x="4663440" y="343467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crontab -l: backup and monitor jobs</a:t>
            </a:r>
          </a:p>
        </p:txBody>
      </p:sp>
      <p:pic>
        <p:nvPicPr>
          <p:cNvPr id="15" name="Screenshot 15" descr="crontab -l and cron service stat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1097280"/>
            <a:ext cx="3383280" cy="2614887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6" name="Caption 16"/>
          <p:cNvSpPr txBox="1"/>
          <p:nvPr/>
        </p:nvSpPr>
        <p:spPr>
          <a:xfrm>
            <a:off x="8202168" y="3748743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crontab -l and cron service status</a:t>
            </a:r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4663440" y="4663440"/>
          <a:ext cx="6922010" cy="1234440"/>
        </p:xfrm>
        <a:graphic>
          <a:graphicData uri="http://schemas.openxmlformats.org/drawingml/2006/table">
            <a:tbl>
              <a:tblPr firstRow="1" band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9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Job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Minute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Hour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Day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Month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Weekday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backup.sh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monitor.sh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*/10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Monitoring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Monitoring points 11"/>
          <p:cNvSpPr txBox="1"/>
          <p:nvPr/>
        </p:nvSpPr>
        <p:spPr>
          <a:xfrm>
            <a:off x="609905" y="1143000"/>
            <a:ext cx="3474720" cy="4846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monitor.sh logs df, vgs and lvs to /var/log/storage_monitor.log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It reads the usage of /mnt/data and /mnt/backup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It writes a WARNING when usage is above 80%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Clr>
                <a:srgbClr val="1F3A5F"/>
              </a:buClr>
              <a:buFont typeface="Arial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Test: /mnt/backup was filled to 96% and the WARNING appeared in the log</a:t>
            </a:r>
          </a:p>
        </p:txBody>
      </p:sp>
      <p:pic>
        <p:nvPicPr>
          <p:cNvPr id="12" name="Screenshot 12" descr="monitor.sh (final, syntax checked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97280"/>
            <a:ext cx="3566160" cy="1550711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3" name="Caption 13"/>
          <p:cNvSpPr txBox="1"/>
          <p:nvPr/>
        </p:nvSpPr>
        <p:spPr>
          <a:xfrm>
            <a:off x="4297680" y="2684567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monitor.sh (final, syntax checked)</a:t>
            </a:r>
          </a:p>
        </p:txBody>
      </p:sp>
      <p:pic>
        <p:nvPicPr>
          <p:cNvPr id="14" name="Screenshot 14" descr="storage_monitor.log after running the scrip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102" y="1097280"/>
            <a:ext cx="3466531" cy="1828800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5" name="Caption 15"/>
          <p:cNvSpPr txBox="1"/>
          <p:nvPr/>
        </p:nvSpPr>
        <p:spPr>
          <a:xfrm>
            <a:off x="8019288" y="296265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storage_monitor.log after running the script</a:t>
            </a:r>
          </a:p>
        </p:txBody>
      </p:sp>
      <p:pic>
        <p:nvPicPr>
          <p:cNvPr id="16" name="Screenshot 16" descr="WARNING written when /mnt/backup reached 96%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404" y="3337560"/>
            <a:ext cx="7132320" cy="2377440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7" name="Caption 17"/>
          <p:cNvSpPr txBox="1"/>
          <p:nvPr/>
        </p:nvSpPr>
        <p:spPr>
          <a:xfrm>
            <a:off x="4297680" y="5751576"/>
            <a:ext cx="728776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WARNING written when /mnt/backup reached 96%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7F925A3-7557-41BB-A479-C69170756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5661"/>
            <a:ext cx="662700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Menu-Driven Interface: storage_manager.sh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48008-B537-4931-9594-315A19B83CE1}"/>
              </a:ext>
            </a:extLst>
          </p:cNvPr>
          <p:cNvSpPr txBox="1"/>
          <p:nvPr/>
        </p:nvSpPr>
        <p:spPr>
          <a:xfrm>
            <a:off x="609600" y="702742"/>
            <a:ext cx="8704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Provides 10 menu options for storage overview, partitioning, LVM, snapshots, backup/restore, monitoring, </a:t>
            </a:r>
            <a:r>
              <a:rPr lang="en-IN" dirty="0" err="1"/>
              <a:t>cron</a:t>
            </a:r>
            <a:r>
              <a:rPr lang="en-IN" dirty="0"/>
              <a:t> and logs.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63AEA0-8339-48AD-BF3D-E0AF5937D7CB}"/>
              </a:ext>
            </a:extLst>
          </p:cNvPr>
          <p:cNvSpPr/>
          <p:nvPr/>
        </p:nvSpPr>
        <p:spPr>
          <a:xfrm>
            <a:off x="609600" y="1425827"/>
            <a:ext cx="9986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Working process — User Selection → Input Validation → Linux Command → Result/Error.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CC447C-2AAA-4DDC-B8B2-6E36C1AB1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86" y="1887492"/>
            <a:ext cx="5310433" cy="38118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D5A1E7-3A41-45F5-864C-3AA92194D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569" y="1887492"/>
            <a:ext cx="5165889" cy="37638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7C4121-A096-42E6-B300-BB894CFC3D17}"/>
              </a:ext>
            </a:extLst>
          </p:cNvPr>
          <p:cNvSpPr/>
          <p:nvPr/>
        </p:nvSpPr>
        <p:spPr>
          <a:xfrm>
            <a:off x="2050606" y="5651369"/>
            <a:ext cx="17540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Storage_manager.sh(menu)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5DE72F-8F61-458A-9889-D2EDA70B46DC}"/>
              </a:ext>
            </a:extLst>
          </p:cNvPr>
          <p:cNvSpPr/>
          <p:nvPr/>
        </p:nvSpPr>
        <p:spPr>
          <a:xfrm>
            <a:off x="7001995" y="5651369"/>
            <a:ext cx="337903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Storage_manager.sh(</a:t>
            </a:r>
            <a:r>
              <a:rPr lang="en-US" sz="1100" i="1" dirty="0" err="1">
                <a:solidFill>
                  <a:srgbClr val="5A6472"/>
                </a:solidFill>
                <a:latin typeface="Times New Roman"/>
                <a:cs typeface="Times New Roman"/>
              </a:rPr>
              <a:t>menu_test</a:t>
            </a: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979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0229EC-9946-4371-B6F3-4A6BD35DA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Input Validation &amp; Error Handling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90D0D-C750-45E1-8200-5288022C8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615" y="1657349"/>
            <a:ext cx="5890770" cy="39701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A73DB4-7B42-4D48-9AAD-84FB9716FAD4}"/>
              </a:ext>
            </a:extLst>
          </p:cNvPr>
          <p:cNvSpPr/>
          <p:nvPr/>
        </p:nvSpPr>
        <p:spPr>
          <a:xfrm>
            <a:off x="4763350" y="5627548"/>
            <a:ext cx="24176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menu choice and error message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27BFDE0-EFA1-4C91-B882-5B5D99BD2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3853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script validates menu choices, checks inputs, and displays error messages for invalid selections.</a:t>
            </a:r>
          </a:p>
        </p:txBody>
      </p:sp>
    </p:spTree>
    <p:extLst>
      <p:ext uri="{BB962C8B-B14F-4D97-AF65-F5344CB8AC3E}">
        <p14:creationId xmlns:p14="http://schemas.microsoft.com/office/powerpoint/2010/main" val="86200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Testing Summary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676616"/>
              </p:ext>
            </p:extLst>
          </p:nvPr>
        </p:nvGraphicFramePr>
        <p:xfrm>
          <a:off x="609905" y="1143000"/>
          <a:ext cx="10972800" cy="4663440"/>
        </p:xfrm>
        <a:graphic>
          <a:graphicData uri="http://schemas.openxmlformats.org/drawingml/2006/table">
            <a:tbl>
              <a:tblPr firstRow="1" bandRow="1"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Test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What was done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Extend LV online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lv_data</a:t>
                      </a:r>
                      <a:r>
                        <a:rPr lang="en-US" sz="1600" dirty="0"/>
                        <a:t> extended online while mounted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1E6B3A"/>
                          </a:solidFill>
                          <a:latin typeface="Times New Roman"/>
                          <a:cs typeface="Times New Roman"/>
                        </a:rPr>
                        <a:t>Passed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Snapshot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Deleted test.txt and recovered it from snap_data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1E6B3A"/>
                          </a:solidFill>
                          <a:latin typeface="Times New Roman"/>
                          <a:cs typeface="Times New Roman"/>
                        </a:rPr>
                        <a:t>Passed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Backup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tar.gz archive created in /mnt/backup by backup.sh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1E6B3A"/>
                          </a:solidFill>
                          <a:latin typeface="Times New Roman"/>
                          <a:cs typeface="Times New Roman"/>
                        </a:rPr>
                        <a:t>Passed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Restore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Archive extracted to ~/restore_test and files verified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1E6B3A"/>
                          </a:solidFill>
                          <a:latin typeface="Times New Roman"/>
                          <a:cs typeface="Times New Roman"/>
                        </a:rPr>
                        <a:t>Passed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Monitoring warning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/mnt/backup filled to 96% and a WARNING was logged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1E6B3A"/>
                          </a:solidFill>
                          <a:latin typeface="Times New Roman"/>
                          <a:cs typeface="Times New Roman"/>
                        </a:rPr>
                        <a:t>Passed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Cron automation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monitor.sh ran by itself from cron (new log entry)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1E6B3A"/>
                          </a:solidFill>
                          <a:latin typeface="Times New Roman"/>
                          <a:cs typeface="Times New Roman"/>
                        </a:rPr>
                        <a:t>Passed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Reboot persistence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Both volumes were mounted again automatically after reboot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1E6B3A"/>
                          </a:solidFill>
                          <a:latin typeface="Times New Roman"/>
                          <a:cs typeface="Times New Roman"/>
                        </a:rPr>
                        <a:t>Passed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Results and Verification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pic>
        <p:nvPicPr>
          <p:cNvPr id="11" name="Screenshot 11" descr="Final overview: lsbl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5" y="1097280"/>
            <a:ext cx="6035040" cy="4156057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2" name="Caption 12"/>
          <p:cNvSpPr txBox="1"/>
          <p:nvPr/>
        </p:nvSpPr>
        <p:spPr>
          <a:xfrm>
            <a:off x="609905" y="5289913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Storage overview: lsblk</a:t>
            </a:r>
          </a:p>
        </p:txBody>
      </p:sp>
      <p:pic>
        <p:nvPicPr>
          <p:cNvPr id="13" name="Screenshot 13" descr="After reboot: both volumes mounted, scripts pres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97280"/>
            <a:ext cx="4727448" cy="1094162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4" name="Caption 14"/>
          <p:cNvSpPr txBox="1"/>
          <p:nvPr/>
        </p:nvSpPr>
        <p:spPr>
          <a:xfrm>
            <a:off x="6858000" y="2228018"/>
            <a:ext cx="47274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After reboot: both volumes mounted, scripts present</a:t>
            </a:r>
          </a:p>
        </p:txBody>
      </p:sp>
      <p:pic>
        <p:nvPicPr>
          <p:cNvPr id="15" name="Screenshot 15" descr="Log entry created automatically by cr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606040"/>
            <a:ext cx="4727448" cy="1773565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6" name="Caption 16"/>
          <p:cNvSpPr txBox="1"/>
          <p:nvPr/>
        </p:nvSpPr>
        <p:spPr>
          <a:xfrm>
            <a:off x="6858000" y="4416181"/>
            <a:ext cx="47274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Log entry created automatically by cron</a:t>
            </a:r>
          </a:p>
        </p:txBody>
      </p:sp>
      <p:pic>
        <p:nvPicPr>
          <p:cNvPr id="17" name="Screenshot 17" descr="Final overview: pvs, vgs and lv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0905" y="4754880"/>
            <a:ext cx="4381639" cy="1280160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8" name="Caption 18"/>
          <p:cNvSpPr txBox="1"/>
          <p:nvPr/>
        </p:nvSpPr>
        <p:spPr>
          <a:xfrm>
            <a:off x="6858000" y="6071616"/>
            <a:ext cx="47274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Final overview: pvs, vgs and lvs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3889" y="183357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Challenges Faced and Solutions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285786"/>
              </p:ext>
            </p:extLst>
          </p:nvPr>
        </p:nvGraphicFramePr>
        <p:xfrm>
          <a:off x="593889" y="1097280"/>
          <a:ext cx="11207623" cy="2788920"/>
        </p:xfrm>
        <a:graphic>
          <a:graphicData uri="http://schemas.openxmlformats.org/drawingml/2006/table">
            <a:tbl>
              <a:tblPr firstRow="1" bandRow="1"/>
              <a:tblGrid>
                <a:gridCol w="3252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Problem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Cause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Solution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VM booted into emergency mode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Typo in /etc/fstab: lv_ackup instead of lv_backup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Corrected with sed, tested with mount -a, then rebooted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Pipe and backslash keys not working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Keyboard layout mismatch in the VM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222222"/>
                          </a:solidFill>
                          <a:latin typeface="Times New Roman"/>
                          <a:cs typeface="Times New Roman"/>
                        </a:rPr>
                        <a:t>Used pipe-free commands (sed, df --output) and echo with &gt;&gt;</a:t>
                      </a: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 interface and script errors</a:t>
                      </a:r>
                      <a:endParaRPr lang="en-US" sz="1400" b="1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Script syntax errors and the need for input validation</a:t>
                      </a:r>
                      <a:endParaRPr lang="en-US" sz="140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 syntax, corrected errors, and added menu input validation</a:t>
                      </a:r>
                      <a:endParaRPr lang="en-US" sz="140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Screenshot 12" descr="cat /etc/fstab: the typo lv_ackup in the last l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5" y="4023359"/>
            <a:ext cx="5394960" cy="1642149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3" name="Caption 13"/>
          <p:cNvSpPr txBox="1"/>
          <p:nvPr/>
        </p:nvSpPr>
        <p:spPr>
          <a:xfrm>
            <a:off x="609905" y="5665509"/>
            <a:ext cx="5394960" cy="367645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cat /etc/fstab: the typo lv_ackup in the last line</a:t>
            </a:r>
          </a:p>
        </p:txBody>
      </p:sp>
      <p:pic>
        <p:nvPicPr>
          <p:cNvPr id="14" name="Screenshot 14" descr="After the fix: lv_backu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4023360"/>
            <a:ext cx="5394960" cy="1642148"/>
          </a:xfrm>
          <a:prstGeom prst="rect">
            <a:avLst/>
          </a:prstGeom>
          <a:ln w="9525">
            <a:solidFill>
              <a:srgbClr val="BFC8D4"/>
            </a:solidFill>
          </a:ln>
        </p:spPr>
      </p:pic>
      <p:sp>
        <p:nvSpPr>
          <p:cNvPr id="15" name="Caption 15"/>
          <p:cNvSpPr txBox="1"/>
          <p:nvPr/>
        </p:nvSpPr>
        <p:spPr>
          <a:xfrm>
            <a:off x="6190488" y="5665509"/>
            <a:ext cx="5394960" cy="17910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A6472"/>
                </a:solidFill>
                <a:latin typeface="Times New Roman"/>
                <a:cs typeface="Times New Roman"/>
              </a:rPr>
              <a:t>After the fix: lv_backup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905" y="243999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Conclusion and Future Scope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2" name="Stat card 12"/>
          <p:cNvSpPr/>
          <p:nvPr/>
        </p:nvSpPr>
        <p:spPr>
          <a:xfrm>
            <a:off x="7680960" y="1097280"/>
            <a:ext cx="1892808" cy="13258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F3A5F"/>
                </a:solidFill>
                <a:latin typeface="Times New Roman"/>
                <a:cs typeface="Times New Roman"/>
              </a:rPr>
              <a:t>3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A6472"/>
                </a:solidFill>
                <a:latin typeface="Times New Roman"/>
                <a:cs typeface="Times New Roman"/>
              </a:rPr>
              <a:t>Partitions</a:t>
            </a:r>
          </a:p>
        </p:txBody>
      </p:sp>
      <p:sp>
        <p:nvSpPr>
          <p:cNvPr id="13" name="Stat card 13"/>
          <p:cNvSpPr/>
          <p:nvPr/>
        </p:nvSpPr>
        <p:spPr>
          <a:xfrm>
            <a:off x="9692640" y="1097280"/>
            <a:ext cx="1892808" cy="13258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F3A5F"/>
                </a:solidFill>
                <a:latin typeface="Times New Roman"/>
                <a:cs typeface="Times New Roman"/>
              </a:rPr>
              <a:t>10 GB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A6472"/>
                </a:solidFill>
                <a:latin typeface="Times New Roman"/>
                <a:cs typeface="Times New Roman"/>
              </a:rPr>
              <a:t>LVM pool</a:t>
            </a:r>
          </a:p>
        </p:txBody>
      </p:sp>
      <p:sp>
        <p:nvSpPr>
          <p:cNvPr id="14" name="Stat card 14"/>
          <p:cNvSpPr/>
          <p:nvPr/>
        </p:nvSpPr>
        <p:spPr>
          <a:xfrm>
            <a:off x="7680960" y="2560320"/>
            <a:ext cx="1892808" cy="13258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F3A5F"/>
                </a:solidFill>
                <a:latin typeface="Times New Roman"/>
                <a:cs typeface="Times New Roman"/>
              </a:rPr>
              <a:t>2 AM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A6472"/>
                </a:solidFill>
                <a:latin typeface="Times New Roman"/>
                <a:cs typeface="Times New Roman"/>
              </a:rPr>
              <a:t>Daily backup</a:t>
            </a:r>
          </a:p>
        </p:txBody>
      </p:sp>
      <p:sp>
        <p:nvSpPr>
          <p:cNvPr id="15" name="Stat card 15"/>
          <p:cNvSpPr/>
          <p:nvPr/>
        </p:nvSpPr>
        <p:spPr>
          <a:xfrm>
            <a:off x="9711710" y="2560320"/>
            <a:ext cx="1892808" cy="13258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F3A5F"/>
                </a:solidFill>
                <a:latin typeface="Times New Roman"/>
                <a:cs typeface="Times New Roman"/>
              </a:rPr>
              <a:t>80%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A6472"/>
                </a:solidFill>
                <a:latin typeface="Times New Roman"/>
                <a:cs typeface="Times New Roman"/>
              </a:rPr>
              <a:t>Alert level</a:t>
            </a:r>
          </a:p>
        </p:txBody>
      </p:sp>
      <p:sp>
        <p:nvSpPr>
          <p:cNvPr id="16" name="Label 16"/>
          <p:cNvSpPr txBox="1"/>
          <p:nvPr/>
        </p:nvSpPr>
        <p:spPr>
          <a:xfrm>
            <a:off x="609905" y="386791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5A6472"/>
                </a:solidFill>
                <a:latin typeface="Times New Roman"/>
                <a:cs typeface="Times New Roman"/>
              </a:rPr>
              <a:t>FUTURE SCOPE</a:t>
            </a:r>
          </a:p>
        </p:txBody>
      </p:sp>
      <p:sp>
        <p:nvSpPr>
          <p:cNvPr id="17" name="Future card 17"/>
          <p:cNvSpPr/>
          <p:nvPr/>
        </p:nvSpPr>
        <p:spPr>
          <a:xfrm>
            <a:off x="609905" y="4297680"/>
            <a:ext cx="3520440" cy="896112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/>
                <a:cs typeface="Times New Roman"/>
              </a:rPr>
              <a:t>RAID with mdadm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Times New Roman"/>
                <a:cs typeface="Times New Roman"/>
              </a:rPr>
              <a:t>Add disk redundancy so one failure does not lose data</a:t>
            </a:r>
          </a:p>
        </p:txBody>
      </p:sp>
      <p:sp>
        <p:nvSpPr>
          <p:cNvPr id="18" name="Future card 18"/>
          <p:cNvSpPr/>
          <p:nvPr/>
        </p:nvSpPr>
        <p:spPr>
          <a:xfrm>
            <a:off x="4336085" y="4297680"/>
            <a:ext cx="3520440" cy="896112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/>
                <a:cs typeface="Times New Roman"/>
              </a:rPr>
              <a:t>Email or SMS alerts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Times New Roman"/>
                <a:cs typeface="Times New Roman"/>
              </a:rPr>
              <a:t>Send the WARNING to the administrator</a:t>
            </a:r>
          </a:p>
        </p:txBody>
      </p:sp>
      <p:sp>
        <p:nvSpPr>
          <p:cNvPr id="19" name="Future card 19"/>
          <p:cNvSpPr/>
          <p:nvPr/>
        </p:nvSpPr>
        <p:spPr>
          <a:xfrm>
            <a:off x="8062265" y="4297680"/>
            <a:ext cx="3520440" cy="896112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/>
                <a:cs typeface="Times New Roman"/>
              </a:rPr>
              <a:t>Remote and cloud backups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Times New Roman"/>
                <a:cs typeface="Times New Roman"/>
              </a:rPr>
              <a:t>Copy backups to another server or cloud storage</a:t>
            </a:r>
          </a:p>
        </p:txBody>
      </p:sp>
      <p:sp>
        <p:nvSpPr>
          <p:cNvPr id="20" name="Future card 20"/>
          <p:cNvSpPr/>
          <p:nvPr/>
        </p:nvSpPr>
        <p:spPr>
          <a:xfrm>
            <a:off x="609905" y="5303520"/>
            <a:ext cx="3520440" cy="896112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/>
                <a:cs typeface="Times New Roman"/>
              </a:rPr>
              <a:t>Encrypted volumes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Times New Roman"/>
                <a:cs typeface="Times New Roman"/>
              </a:rPr>
              <a:t>Protect data at rest using LUKS</a:t>
            </a:r>
          </a:p>
        </p:txBody>
      </p:sp>
      <p:sp>
        <p:nvSpPr>
          <p:cNvPr id="21" name="Future card 21"/>
          <p:cNvSpPr/>
          <p:nvPr/>
        </p:nvSpPr>
        <p:spPr>
          <a:xfrm>
            <a:off x="4336085" y="5303520"/>
            <a:ext cx="3520440" cy="896112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/>
                <a:cs typeface="Times New Roman"/>
              </a:rPr>
              <a:t>Monitoring dashboard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Times New Roman"/>
                <a:cs typeface="Times New Roman"/>
              </a:rPr>
              <a:t>Show usage graphs with tools such as Grafana</a:t>
            </a:r>
          </a:p>
        </p:txBody>
      </p:sp>
      <p:sp>
        <p:nvSpPr>
          <p:cNvPr id="22" name="Future card 22"/>
          <p:cNvSpPr/>
          <p:nvPr/>
        </p:nvSpPr>
        <p:spPr>
          <a:xfrm>
            <a:off x="8062265" y="5303520"/>
            <a:ext cx="3520440" cy="896112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/>
                <a:cs typeface="Times New Roman"/>
              </a:rPr>
              <a:t>LVM thin provisioning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Times New Roman"/>
                <a:cs typeface="Times New Roman"/>
              </a:rPr>
              <a:t>Allocate space on demand for efficient use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DA29F2C-EAB8-41A5-A756-12CE9A93C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163" y="1022440"/>
            <a:ext cx="695785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Linux storage infrastructure was configured and tested on Ubuntu 25.04.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LVM provides flexible storage, while snapshots support data recovery.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Automated backups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jobs reduce manual work, and monitoring warns when storage usage exceeds 80%.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menu-driven Bash interface makes storage operations easier to access.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00000" cy="563562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References</a:t>
            </a:r>
          </a:p>
        </p:txBody>
      </p:sp>
      <p:pic>
        <p:nvPicPr>
          <p:cNvPr id="5" name="Alliance University Logo" descr="Alliance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11" name="References list 11"/>
          <p:cNvSpPr txBox="1"/>
          <p:nvPr/>
        </p:nvSpPr>
        <p:spPr>
          <a:xfrm>
            <a:off x="609905" y="1143000"/>
            <a:ext cx="1097280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457200" indent="-457200" algn="l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Canonical Ltd. Ubuntu Server Documentation: Logical Volume Management (LVM). documentation.ubuntu.com/server</a:t>
            </a:r>
          </a:p>
          <a:p>
            <a:pPr marL="457200" indent="-457200" algn="l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Red Hat. Configuring and managing logical volumes. Red Hat Enterprise Linux documentation. docs.redhat.com</a:t>
            </a:r>
          </a:p>
          <a:p>
            <a:pPr marL="457200" indent="-457200" algn="l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Linux man-pages: parted(8), lvm(8), mkfs.ext4(8), fstab(5), crontab(5), tar(1), df(1). man7.org</a:t>
            </a:r>
          </a:p>
          <a:p>
            <a:pPr marL="457200" indent="-457200" algn="l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Oracle. Oracle VM VirtualBox User Manual. virtualbox.org</a:t>
            </a:r>
          </a:p>
          <a:p>
            <a:pPr marL="457200" indent="-457200" algn="l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latin typeface="Times New Roman"/>
                <a:cs typeface="Times New Roman"/>
              </a:rPr>
              <a:t>Free Software Foundation. GNU Bash Reference Manual. gnu.org/software/bash</a:t>
            </a:r>
          </a:p>
        </p:txBody>
      </p:sp>
      <p:sp>
        <p:nvSpPr>
          <p:cNvPr id="12" name="Closing card 12"/>
          <p:cNvSpPr/>
          <p:nvPr/>
        </p:nvSpPr>
        <p:spPr>
          <a:xfrm>
            <a:off x="609905" y="47548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 wrap="square" lIns="182880" tIns="137160" rIns="182880" bIns="13716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F3A5F"/>
                </a:solidFill>
                <a:latin typeface="Times New Roman"/>
                <a:cs typeface="Times New Roman"/>
              </a:rPr>
              <a:t>Thank You   |   Questions?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2228</Words>
  <Application>Microsoft Office PowerPoint</Application>
  <PresentationFormat>Widescreen</PresentationFormat>
  <Paragraphs>335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Times New Roman</vt:lpstr>
      <vt:lpstr>Office Theme</vt:lpstr>
      <vt:lpstr>PowerPoint Presentation</vt:lpstr>
      <vt:lpstr>Agenda</vt:lpstr>
      <vt:lpstr>Introduction and Problem Statement</vt:lpstr>
      <vt:lpstr>Objectives of the Project</vt:lpstr>
      <vt:lpstr>Tools and System Requirements</vt:lpstr>
      <vt:lpstr>System Architecture</vt:lpstr>
      <vt:lpstr>Implementation: Partitioning</vt:lpstr>
      <vt:lpstr>Implementation: LVM Setup</vt:lpstr>
      <vt:lpstr>Implementation: Filesystem and Mounting</vt:lpstr>
      <vt:lpstr>LVM Management: Extend and Snapshot</vt:lpstr>
      <vt:lpstr>Backup and Restore</vt:lpstr>
      <vt:lpstr>Automation using cron</vt:lpstr>
      <vt:lpstr>Monitoring</vt:lpstr>
      <vt:lpstr>Menu-Driven Interface: storage_manager.sh </vt:lpstr>
      <vt:lpstr>Input Validation &amp; Error Handling</vt:lpstr>
      <vt:lpstr>Testing Summary</vt:lpstr>
      <vt:lpstr>Results and Verification</vt:lpstr>
      <vt:lpstr>Challenges Faced and Solutions</vt:lpstr>
      <vt:lpstr>Conclusion and 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GANESH K</cp:lastModifiedBy>
  <cp:revision>31</cp:revision>
  <cp:lastPrinted>2020-11-26T03:04:06Z</cp:lastPrinted>
  <dcterms:created xsi:type="dcterms:W3CDTF">2008-12-05T06:42:08Z</dcterms:created>
  <dcterms:modified xsi:type="dcterms:W3CDTF">2026-10-28T18:25:09Z</dcterms:modified>
</cp:coreProperties>
</file>